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8288000" cy="10287000"/>
  <p:notesSz cx="6858000" cy="9144000"/>
  <p:embeddedFontLst>
    <p:embeddedFont>
      <p:font typeface="Glacial Indifference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>
        <p:scale>
          <a:sx n="66" d="100"/>
          <a:sy n="66" d="100"/>
        </p:scale>
        <p:origin x="1050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font" Target="fonts/font1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9586" y="1959051"/>
            <a:ext cx="5441784" cy="5441784"/>
          </a:xfrm>
          <a:custGeom>
            <a:avLst/>
            <a:gdLst/>
            <a:ahLst/>
            <a:cxnLst/>
            <a:rect l="l" t="t" r="r" b="b"/>
            <a:pathLst>
              <a:path w="5441784" h="5441784">
                <a:moveTo>
                  <a:pt x="0" y="0"/>
                </a:moveTo>
                <a:lnTo>
                  <a:pt x="5441783" y="0"/>
                </a:lnTo>
                <a:lnTo>
                  <a:pt x="5441783" y="5441783"/>
                </a:lnTo>
                <a:lnTo>
                  <a:pt x="0" y="5441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6818577" y="2179267"/>
            <a:ext cx="10141245" cy="2020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225"/>
              </a:lnSpc>
              <a:spcBef>
                <a:spcPct val="0"/>
              </a:spcBef>
            </a:pPr>
            <a:r>
              <a:rPr lang="pt-BR" sz="5400" dirty="0" b="0">
                <a:solidFill>
                  <a:schemeClr val="bg1"/>
                </a:solidFill>
                <a:latin typeface="Glacial Indifference Bold" panose="020B0604020202020204" charset="0"/>
              </a:rPr>
              <a:t>Sistema de Controle de Qualidade — SCQ</a:t>
            </a:r>
            <a:endParaRPr lang="en-US" sz="5400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1752" y="7360920"/>
            <a:ext cx="11338560" cy="237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600" dirty="0" b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  <a:t>Equipe: Rafael Angelo Silva · João Pedro Ortolan Pereira</a:t>
            </a:r>
            <a:br>
              <a:rPr lang="en-US" sz="3600" dirty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</a:br>
            <a:endParaRPr lang="en-US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r>
              <a:rPr lang="en-US" sz="2600" dirty="0" b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  <a:t>Hivan Lucas Rossinolli · João Vinicius</a:t>
            </a:r>
            <a:br>
              <a:rPr lang="en-US" sz="3600" dirty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</a:br>
            <a:endParaRPr lang="en-US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r>
              <a:rPr lang="en-US" sz="2600" dirty="0" b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  <a:t>Professor: Gabriel Christopher Dall'Pozzo</a:t>
            </a:r>
            <a:br>
              <a:rPr lang="en-US" sz="3600" dirty="0">
                <a:solidFill>
                  <a:schemeClr val="bg1"/>
                </a:solidFill>
                <a:latin typeface="Glacial Indifference Bold" panose="020B0604020202020204" charset="0"/>
                <a:ea typeface="Calibri" pitchFamily="34" charset="-122"/>
                <a:cs typeface="Calibri" pitchFamily="34" charset="-120"/>
              </a:rPr>
            </a:br>
            <a:endParaRPr lang="en-US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A6B8C5-D288-92E0-F4FA-529A7D285C5E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01-11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76085C-920E-F77A-DD9C-F8A30EA88D02}"/>
              </a:ext>
            </a:extLst>
          </p:cNvPr>
          <p:cNvSpPr txBox="1"/>
          <p:nvPr/>
        </p:nvSpPr>
        <p:spPr>
          <a:xfrm>
            <a:off x="6821424" y="4617720"/>
            <a:ext cx="10140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dirty="0" b="0">
                <a:solidFill>
                  <a:schemeClr val="bg1"/>
                </a:solidFill>
                <a:latin typeface="Glacial Indifference Bold" panose="020B0604020202020204" charset="0"/>
              </a:rPr>
              <a:t>Indústria Ervateira Verdelandia</a:t>
            </a:r>
            <a:endParaRPr lang="pt-BR" sz="32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algn="r"/>
            <a:r>
              <a:rPr lang="pt-BR" sz="2800" dirty="0" b="0">
                <a:solidFill>
                  <a:schemeClr val="bg1"/>
                </a:solidFill>
                <a:latin typeface="Glacial Indifference Bold" panose="020B0604020202020204" charset="0"/>
              </a:rPr>
              <a:t>Apresentação Final · 18 de setembro de 2026</a:t>
            </a:r>
            <a:endParaRPr lang="pt-BR" sz="32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2233457" y="2137662"/>
            <a:ext cx="2083480" cy="643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>
                <a:solidFill>
                  <a:schemeClr val="bg1"/>
                </a:solidFill>
                <a:latin typeface="Glacial Indifference Bold" panose="020B0604020202020204" charset="0"/>
              </a:rPr>
              <a:t>Solução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E6C8D7-121A-0E3E-2C8D-B452D91F9E89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02-07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1EA9C6C-2296-C9D1-2B52-4FFCDA43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086100"/>
            <a:ext cx="7467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Análises de palito registradas em planilhas Excel.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Fichas de embalagem (FORQSE001) preenchidas manualmente</a:t>
            </a:r>
            <a:r>
              <a:rPr lang="pt-BR" alt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Registro de coleta de amostras manual.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Controle de lotes feito em planilha separada</a:t>
            </a:r>
            <a:r>
              <a:rPr lang="pt-BR" alt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Planilha precisa ser compartilhada.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027DB0A-39B4-A26A-91E4-A08E115B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3999" y="2781300"/>
            <a:ext cx="83058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Análises registradas direto no sistema, com desconto calculado automaticamente</a:t>
            </a:r>
            <a:r>
              <a:rPr lang="pt-BR" alt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Setor de compras acessa o sistema em tempo real</a:t>
            </a:r>
            <a:r>
              <a:rPr lang="pt-BR" alt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Ficha FORQSE001 digital, com geração de PDF.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Coleta de amostras digital, com exportação Excel.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Módulo de Lotes centralizado, vinculado a análises e fichas.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6FDCC-F44C-E347-767B-2127AA3EB25B}"/>
              </a:ext>
            </a:extLst>
          </p:cNvPr>
          <p:cNvSpPr txBox="1"/>
          <p:nvPr/>
        </p:nvSpPr>
        <p:spPr>
          <a:xfrm>
            <a:off x="3550284" y="2073414"/>
            <a:ext cx="2500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Glacial Indifference Bold" panose="020B0604020202020204" charset="0"/>
              </a:rPr>
              <a:t>Problema </a:t>
            </a:r>
            <a:endParaRPr lang="pt-BR" sz="4000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71839FD-09AA-2C0A-3184-17E4AB519B07}"/>
              </a:ext>
            </a:extLst>
          </p:cNvPr>
          <p:cNvCxnSpPr>
            <a:cxnSpLocks/>
          </p:cNvCxnSpPr>
          <p:nvPr/>
        </p:nvCxnSpPr>
        <p:spPr>
          <a:xfrm>
            <a:off x="9073243" y="1714500"/>
            <a:ext cx="0" cy="70866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5924550" y="1218180"/>
            <a:ext cx="6438900" cy="643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>
                <a:solidFill>
                  <a:schemeClr val="bg1"/>
                </a:solidFill>
                <a:latin typeface="Glacial Indifference Bold" panose="020B0604020202020204" charset="0"/>
              </a:rPr>
              <a:t>O que foi entregue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03-07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933700" y="2881342"/>
            <a:ext cx="12420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Sistema em produção.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Acessível pela internet, qualquer dispositivo, múltiplos usuários simultâneos.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Controle de acesso por perfil.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Rastreabilidade completa.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Logs de auditoria.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Pronto para uso no dia a dia.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Formulários adaptados para celular.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5983058" y="986076"/>
            <a:ext cx="6321882" cy="643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>
                <a:solidFill>
                  <a:schemeClr val="bg1"/>
                </a:solidFill>
                <a:latin typeface="Glacial Indifference Bold" panose="020B0604020202020204" charset="0"/>
              </a:rPr>
              <a:t>Demonstração do projeto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E13236-7404-2D76-F821-8A7F7F9CE238}"/>
              </a:ext>
            </a:extLst>
          </p:cNvPr>
          <p:cNvSpPr txBox="1"/>
          <p:nvPr/>
        </p:nvSpPr>
        <p:spPr>
          <a:xfrm>
            <a:off x="4343400" y="8530211"/>
            <a:ext cx="9601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Glacial Indifference Bold" panose="020B0604020202020204" charset="0"/>
              </a:rPr>
              <a:t>URL do sistema em destaque:</a:t>
            </a:r>
            <a:r>
              <a:rPr 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 </a:t>
            </a:r>
            <a:br>
              <a:rPr lang="pt-BR" sz="3200" dirty="0">
                <a:solidFill>
                  <a:schemeClr val="bg1"/>
                </a:solidFill>
                <a:latin typeface="Glacial Indifference Bold" panose="020B0604020202020204" charset="0"/>
              </a:rPr>
            </a:br>
            <a:r>
              <a:rPr lang="pt-BR" sz="3200" dirty="0">
                <a:solidFill>
                  <a:schemeClr val="bg1"/>
                </a:solidFill>
                <a:latin typeface="Glacial Indifference Bold" panose="020B0604020202020204" charset="0"/>
              </a:rPr>
              <a:t>sistema-controle-qualidade-</a:t>
            </a:r>
            <a:r>
              <a:rPr lang="pt-BR" sz="3200" dirty="0" err="1">
                <a:solidFill>
                  <a:schemeClr val="bg1"/>
                </a:solidFill>
                <a:latin typeface="Glacial Indifference Bold" panose="020B0604020202020204" charset="0"/>
              </a:rPr>
              <a:t>verdelan.vercel.app</a:t>
            </a:r>
            <a:endParaRPr lang="pt-BR" sz="32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DFBA6A-6C7F-C4D9-B0ED-99272138BAE7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04-07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B72A9B-744F-2231-3FEF-6D1A870C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4"/>
          <a:stretch>
            <a:fillRect/>
          </a:stretch>
        </p:blipFill>
        <p:spPr>
          <a:xfrm>
            <a:off x="2403948" y="1963654"/>
            <a:ext cx="13480103" cy="6359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6753225" y="1483702"/>
            <a:ext cx="4781550" cy="63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Principais</a:t>
            </a:r>
            <a:r>
              <a:rPr lang="en-US" sz="4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desafios</a:t>
            </a:r>
            <a:endParaRPr lang="en-US" sz="4000" b="1" dirty="0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CA0020-F37A-67D8-ACF4-13D51E013DDF}"/>
              </a:ext>
            </a:extLst>
          </p:cNvPr>
          <p:cNvSpPr txBox="1"/>
          <p:nvPr/>
        </p:nvSpPr>
        <p:spPr>
          <a:xfrm>
            <a:off x="4267200" y="3712339"/>
            <a:ext cx="9753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Hospedagem e infraestrutura.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Segurança da API.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Evolução dos requisitos junto à empresa.</a:t>
            </a:r>
            <a:endParaRPr lang="pt-BR" sz="3600" b="1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Alinhamento com os formulários reais da empresa.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61BE801-E090-A84D-FCAA-3EE0B058E2D2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05-07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142390" y="1218180"/>
            <a:ext cx="4003219" cy="63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b="1" dirty="0">
                <a:solidFill>
                  <a:schemeClr val="bg1"/>
                </a:solidFill>
                <a:latin typeface="Glacial Indifference Bold" panose="020B0604020202020204" charset="0"/>
              </a:rPr>
              <a:t>Próximos Passos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647FC0-D2E6-B250-8ADC-4240EEF88221}"/>
              </a:ext>
            </a:extLst>
          </p:cNvPr>
          <p:cNvSpPr txBox="1"/>
          <p:nvPr/>
        </p:nvSpPr>
        <p:spPr>
          <a:xfrm>
            <a:off x="2114907" y="2628900"/>
            <a:ext cx="138157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Treinamento e capacitação dos usuários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Apresentar o sistema para a equipe da </a:t>
            </a:r>
            <a:r>
              <a:rPr lang="pt-BR" sz="3600" dirty="0" err="1">
                <a:solidFill>
                  <a:schemeClr val="bg1"/>
                </a:solidFill>
                <a:latin typeface="Glacial Indifference Bold" panose="020B0604020202020204" charset="0"/>
              </a:rPr>
              <a:t>Verdelandia</a:t>
            </a:r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 por perfil.</a:t>
            </a:r>
          </a:p>
          <a:p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Garantir que cada usuário saiba usar as funcionalidades do seu perfil no dia a dia.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Ajustes de usabilidade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Pequenos refinamentos com base no uso real após o treinamento.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lacial Indifference Bold" panose="020B0604020202020204" charset="0"/>
              </a:rPr>
              <a:t>Possíveis evoluções futuras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Notificações automáticas para o setor de compras.</a:t>
            </a:r>
          </a:p>
          <a:p>
            <a:r>
              <a:rPr lang="pt-BR" sz="3600" dirty="0">
                <a:solidFill>
                  <a:schemeClr val="bg1"/>
                </a:solidFill>
                <a:latin typeface="Glacial Indifference Bold" panose="020B0604020202020204" charset="0"/>
              </a:rPr>
              <a:t>Relatórios gerenciais consolidados para o perfil Gestor.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368393A-E778-4E40-0922-D659A8E07F24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06-07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5476875" y="4452605"/>
            <a:ext cx="7334250" cy="138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Agradecemos</a:t>
            </a:r>
            <a:r>
              <a:rPr lang="en-US" sz="6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pela </a:t>
            </a:r>
            <a:r>
              <a:rPr lang="en-US" sz="60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atenção</a:t>
            </a:r>
            <a:r>
              <a:rPr lang="en-US" sz="6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373FA8-A056-DBE5-9567-D6FD69CA0580}"/>
              </a:ext>
            </a:extLst>
          </p:cNvPr>
          <p:cNvSpPr txBox="1"/>
          <p:nvPr/>
        </p:nvSpPr>
        <p:spPr>
          <a:xfrm>
            <a:off x="16829592" y="9429569"/>
            <a:ext cx="145840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500" dirty="0">
                <a:solidFill>
                  <a:schemeClr val="bg1"/>
                </a:solidFill>
                <a:latin typeface="Glacial Indifference Bold" panose="020B0604020202020204" charset="0"/>
              </a:rPr>
              <a:t>07-07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9144000" y="1965960"/>
            <a:ext cx="8302752" cy="77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Solução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E6C8D7-121A-0E3E-2C8D-B452D91F9E89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02-11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1EA9C6C-2296-C9D1-2B52-4FFCDA43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48" y="3063240"/>
            <a:ext cx="7470648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Análises de palito registradas em planilhas Excel.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Desconto calculado por fórmula arrastada à mão.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Fichas FORQSE001 preenchidas manualmente.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Controle de lotes em planilha separada.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Sem controle de acesso e sem histórico de alterações.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027DB0A-39B4-A26A-91E4-A08E115B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3063240"/>
            <a:ext cx="8302752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Análises no sistema, com desconto calculado pelo servidor.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Compras consulta os dados em tempo real.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Ficha FORQSE001 digital, com geração de PDF.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Coletas registradas e exportadas em Excel.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Acesso por perfil e log de auditoria de cada ação.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6FDCC-F44C-E347-767B-2127AA3EB25B}"/>
              </a:ext>
            </a:extLst>
          </p:cNvPr>
          <p:cNvSpPr txBox="1"/>
          <p:nvPr/>
        </p:nvSpPr>
        <p:spPr>
          <a:xfrm>
            <a:off x="1069848" y="1965960"/>
            <a:ext cx="7470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Problema</a:t>
            </a:r>
            <a:endParaRPr lang="pt-BR" sz="4000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71839FD-09AA-2C0A-3184-17E4AB519B07}"/>
              </a:ext>
            </a:extLst>
          </p:cNvPr>
          <p:cNvCxnSpPr>
            <a:cxnSpLocks/>
          </p:cNvCxnSpPr>
          <p:nvPr/>
        </p:nvCxnSpPr>
        <p:spPr>
          <a:xfrm>
            <a:off x="9073243" y="1714500"/>
            <a:ext cx="0" cy="70866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O que o sistema entrega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03-11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Análises de erva-mate — palito, pó, umidade e desconto automático.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Lotes de produção — vinculados às análises e às fichas.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Fichas FORQSE001 — liberação de embalagens com PDF.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Coletas de amostras — registro e exportação em Excel.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Usuários e permissões — liberação de abas por pessoa.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Auditoria — quem criou, editou ou excluiu cada registro.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Demonstração ao vivo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04-11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Entrar como Analista e lançar uma análise.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O desconto é calculado na hora, pela regra da empresa.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Abrir o lote da semana com as análises vinculadas.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Emitir a ficha FORQSE001 em PDF.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Exportar as análises para Excel.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Criar um usuário e liberar apenas as abas dele.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Abrir os logs de auditoria da própria demonstração.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868680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32B"/>
                </a:solidFill>
                <a:latin typeface="Glacial Indifference Bold"/>
              </a:rPr>
              <a:t>sistema-controle-qualidade-verdelan.vercel.app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Impacto para a entidade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05-11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O desconto não depende mais de fórmula em planilha.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Consulta por produtor, período ou lote em segundos.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Relatório em Excel pronto para o setor de compras.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Cada registro tem autor, data e histórico de alteração.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bg1"/>
                </a:solidFill>
                <a:latin typeface="Glacial Indifference Bold" panose="020B0604020202020204" charset="0"/>
              </a:rPr>
              <a:t>Mais de uma pessoa trabalha ao mesmo tempo, sem passar arquivo.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Base pronta para receber o histórico das planilhas.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9144000" y="1965960"/>
            <a:ext cx="8302752" cy="77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Infraestrutura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E6C8D7-121A-0E3E-2C8D-B452D91F9E89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06-11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1EA9C6C-2296-C9D1-2B52-4FFCDA43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48" y="3063240"/>
            <a:ext cx="7470648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React 18 + TypeScript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Vite e Tailwind CSS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Recharts para os gráficos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Node.js 20 + Express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Prisma ORM e PostgreSQL 16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JWT, Helmet, pdfmake e ExcelJS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027DB0A-39B4-A26A-91E4-A08E115B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3063240"/>
            <a:ext cx="8302752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Front-end hospedado na Vercel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API e banco hospedados no Railway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GitHub com deploy automático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CORS restrito à URL oficial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Astah para a modelagem UML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Testes automatizados da regra de desconto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6FDCC-F44C-E347-767B-2127AA3EB25B}"/>
              </a:ext>
            </a:extLst>
          </p:cNvPr>
          <p:cNvSpPr txBox="1"/>
          <p:nvPr/>
        </p:nvSpPr>
        <p:spPr>
          <a:xfrm>
            <a:off x="1069848" y="1965960"/>
            <a:ext cx="7470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Tecnologias</a:t>
            </a:r>
            <a:endParaRPr lang="pt-BR" sz="4000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71839FD-09AA-2C0A-3184-17E4AB519B07}"/>
              </a:ext>
            </a:extLst>
          </p:cNvPr>
          <p:cNvCxnSpPr>
            <a:cxnSpLocks/>
          </p:cNvCxnSpPr>
          <p:nvPr/>
        </p:nvCxnSpPr>
        <p:spPr>
          <a:xfrm>
            <a:off x="9073243" y="1714500"/>
            <a:ext cx="0" cy="70866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Desafios técnicos superados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07-11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bg1"/>
                </a:solidFill>
                <a:latin typeface="Glacial Indifference Bold" panose="020B0604020202020204" charset="0"/>
              </a:rPr>
              <a:t>IPv6 entre Render e Supabase — migramos backend e banco para o Railway.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bg1"/>
                </a:solidFill>
                <a:latin typeface="Glacial Indifference Bold" panose="020B0604020202020204" charset="0"/>
              </a:rPr>
              <a:t>CORS bloqueando o Vercel — origens restritas à URL oficial.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bg1"/>
                </a:solidFill>
                <a:latin typeface="Glacial Indifference Bold" panose="020B0604020202020204" charset="0"/>
              </a:rPr>
              <a:t>Porta errada no domínio Railway — identificada nos logs de deploy.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bg1"/>
                </a:solidFill>
                <a:latin typeface="Glacial Indifference Bold" panose="020B0604020202020204" charset="0"/>
              </a:rPr>
              <a:t>Pre-deploy com timeout — separado em build e start.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0" dirty="0">
                <a:solidFill>
                  <a:schemeClr val="bg1"/>
                </a:solidFill>
                <a:latin typeface="Glacial Indifference Bold" panose="020B0604020202020204" charset="0"/>
              </a:rPr>
              <a:t>PDF da FORQSE001 — layout validado com a analista antes de codificar.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9144000" y="1965960"/>
            <a:ext cx="8302752" cy="77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O que melhoraríamos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E6C8D7-121A-0E3E-2C8D-B452D91F9E89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08-11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1EA9C6C-2296-C9D1-2B52-4FFCDA43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48" y="3063240"/>
            <a:ext cx="7470648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Critérios de aceite escritos antes de codificar.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 retrospectiva virou ação: os testes automatizados nasceram de uma melhoria da Sprint 1.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Testes manuais documentados por user story.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Entregar software funcionando a cada ciclo.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027DB0A-39B4-A26A-91E4-A08E115B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3063240"/>
            <a:ext cx="8302752" cy="576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Não usamos ferramenta formal de gestão ágil — sem burn-down.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A Sprint 2 fechou 6 dos 16 story points: superestimamos o ciclo.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lacial Indifference Bold" panose="020B0604020202020204" charset="0"/>
              </a:rPr>
              <a:t>Validar o layout dos relatórios com a analista antes de codificar.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lacial Indifference Bold" panose="020B060402020202020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6FDCC-F44C-E347-767B-2127AA3EB25B}"/>
              </a:ext>
            </a:extLst>
          </p:cNvPr>
          <p:cNvSpPr txBox="1"/>
          <p:nvPr/>
        </p:nvSpPr>
        <p:spPr>
          <a:xfrm>
            <a:off x="1069848" y="1965960"/>
            <a:ext cx="7470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O que funcionou</a:t>
            </a:r>
            <a:endParaRPr lang="pt-BR" sz="4000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71839FD-09AA-2C0A-3184-17E4AB519B07}"/>
              </a:ext>
            </a:extLst>
          </p:cNvPr>
          <p:cNvCxnSpPr>
            <a:cxnSpLocks/>
          </p:cNvCxnSpPr>
          <p:nvPr/>
        </p:nvCxnSpPr>
        <p:spPr>
          <a:xfrm>
            <a:off x="9073243" y="1714500"/>
            <a:ext cx="0" cy="70866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8800" y="868680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32B"/>
                </a:solidFill>
                <a:latin typeface="Glacial Indifference Bold"/>
              </a:rPr>
              <a:t>Sprint 1: 11 SP  ·  Sprint 2: 6 de 16 SP  ·  Sprint 3: 34 SP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Próximos passos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09-11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chemeClr val="bg1"/>
                </a:solidFill>
                <a:latin typeface="Glacial Indifference Bold" panose="020B0604020202020204" charset="0"/>
              </a:rPr>
              <a:t>Importar para o sistema o histórico que está em planilha.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0" dirty="0">
                <a:solidFill>
                  <a:schemeClr val="bg1"/>
                </a:solidFill>
                <a:latin typeface="Glacial Indifference Bold" panose="020B0604020202020204" charset="0"/>
              </a:rPr>
              <a:t>US06 — histórico e exportação de análises por produtor.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0" dirty="0">
                <a:solidFill>
                  <a:schemeClr val="bg1"/>
                </a:solidFill>
                <a:latin typeface="Glacial Indifference Bold" panose="020B0604020202020204" charset="0"/>
              </a:rPr>
              <a:t>Recuperação de senha por e-mail.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0" dirty="0">
                <a:solidFill>
                  <a:schemeClr val="bg1"/>
                </a:solidFill>
                <a:latin typeface="Glacial Indifference Bold" panose="020B0604020202020204" charset="0"/>
              </a:rPr>
              <a:t>Relatórios gerenciais mensais para o perfil Gestor.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chemeClr val="bg1"/>
                </a:solidFill>
                <a:latin typeface="Glacial Indifference Bold" panose="020B0604020202020204" charset="0"/>
              </a:rPr>
              <a:t>Rotina periódica de backup do banco de dados.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0" dirty="0">
                <a:solidFill>
                  <a:schemeClr val="bg1"/>
                </a:solidFill>
                <a:latin typeface="Glacial Indifference Bold" panose="020B0604020202020204" charset="0"/>
              </a:rPr>
              <a:t>Avaliar os planos de hospedagem antes do fim do período gratuito.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1051560"/>
            <a:ext cx="14630400" cy="86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pt-BR" sz="4000" dirty="0" b="1">
                <a:solidFill>
                  <a:schemeClr val="bg1"/>
                </a:solidFill>
                <a:latin typeface="Glacial Indifference Bold" panose="020B0604020202020204" charset="0"/>
              </a:rPr>
              <a:t>Documentação entregue</a:t>
            </a:r>
            <a:endParaRPr lang="en-US" sz="3793" b="1" dirty="0">
              <a:solidFill>
                <a:schemeClr val="bg1"/>
              </a:solidFill>
              <a:latin typeface="Glacial Indifference Bold" panose="020B060402020202020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243410-83B2-7BB6-A595-8634799DE402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10-11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28CDA-4C69-9E8C-113F-967EEC7744E1}"/>
              </a:ext>
            </a:extLst>
          </p:cNvPr>
          <p:cNvSpPr txBox="1"/>
          <p:nvPr/>
        </p:nvSpPr>
        <p:spPr>
          <a:xfrm>
            <a:off x="2377440" y="2697480"/>
            <a:ext cx="13533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Documentação Técnica e Acadêmica, com os diagramas UML.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Relatórios das Sprints 1, 2 e 3.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Backlog completo do produto.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Lista de Ajustes e Melhorias.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Relatório de Implantação.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0" dirty="0">
                <a:solidFill>
                  <a:schemeClr val="bg1"/>
                </a:solidFill>
                <a:latin typeface="Glacial Indifference Bold" panose="020B0604020202020204" charset="0"/>
              </a:rPr>
              <a:t>Termo de Entrega e Recebimento.</a:t>
            </a:r>
            <a:endParaRPr lang="pt-BR" sz="3600" dirty="0">
              <a:solidFill>
                <a:schemeClr val="bg1"/>
              </a:solidFill>
              <a:latin typeface="Glacial Indifference Bold" panose="020B06040202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8686800"/>
            <a:ext cx="1463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B32B"/>
                </a:solidFill>
                <a:latin typeface="Glacial Indifference Bold"/>
              </a:rPr>
              <a:t>Portfólio digital: jp-ortolan.github.io/Sistema-controle-qualidade-verdelandia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56499" y="146519"/>
            <a:ext cx="1458408" cy="1101967"/>
          </a:xfrm>
          <a:custGeom>
            <a:avLst/>
            <a:gdLst/>
            <a:ahLst/>
            <a:cxnLst/>
            <a:rect l="l" t="t" r="r" b="b"/>
            <a:pathLst>
              <a:path w="1458408" h="1101967">
                <a:moveTo>
                  <a:pt x="0" y="0"/>
                </a:moveTo>
                <a:lnTo>
                  <a:pt x="1458409" y="0"/>
                </a:lnTo>
                <a:lnTo>
                  <a:pt x="1458409" y="1101967"/>
                </a:lnTo>
                <a:lnTo>
                  <a:pt x="0" y="1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2" b="-336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114908" y="618160"/>
            <a:ext cx="2500632" cy="600020"/>
          </a:xfrm>
          <a:custGeom>
            <a:avLst/>
            <a:gdLst/>
            <a:ahLst/>
            <a:cxnLst/>
            <a:rect l="l" t="t" r="r" b="b"/>
            <a:pathLst>
              <a:path w="2500632" h="600020">
                <a:moveTo>
                  <a:pt x="0" y="0"/>
                </a:moveTo>
                <a:lnTo>
                  <a:pt x="2500632" y="0"/>
                </a:lnTo>
                <a:lnTo>
                  <a:pt x="2500632" y="600020"/>
                </a:lnTo>
                <a:lnTo>
                  <a:pt x="0" y="60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2" t="-350180" b="-125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828800" y="3931920"/>
            <a:ext cx="14630400" cy="146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Agradecemos pela atenção!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373FA8-A056-DBE5-9567-D6FD69CA0580}"/>
              </a:ext>
            </a:extLst>
          </p:cNvPr>
          <p:cNvSpPr txBox="1"/>
          <p:nvPr/>
        </p:nvSpPr>
        <p:spPr>
          <a:xfrm>
            <a:off x="16093440" y="9326880"/>
            <a:ext cx="219456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3500" dirty="0" b="0">
                <a:solidFill>
                  <a:schemeClr val="bg1"/>
                </a:solidFill>
                <a:latin typeface="Glacial Indifference Bold" panose="020B0604020202020204" charset="0"/>
              </a:rPr>
              <a:t>11-11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1463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FFFFFF"/>
                </a:solidFill>
                <a:latin typeface="Glacial Indifference Bold"/>
              </a:rPr>
              <a:t>Perguntas?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Glacial Indifference Bold"/>
              </a:rPr>
              <a:t/>
            </a:r>
          </a:p>
          <a:p>
            <a:pPr algn="ctr"/>
            <a:r>
              <a:rPr sz="2400">
                <a:solidFill>
                  <a:srgbClr val="FFFFFF"/>
                </a:solidFill>
                <a:latin typeface="Glacial Indifference Bold"/>
              </a:rPr>
              <a:t>Sistema: sistema-controle-qualidade-verdelan.vercel.app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Glacial Indifference Bold"/>
              </a:rPr>
              <a:t>Portfólio: jp-ortolan.github.io/Sistema-controle-qualidade-verdelandia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279</Words>
  <Application>Microsoft Office PowerPoint</Application>
  <PresentationFormat>Personalizar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Calibri</vt:lpstr>
      <vt:lpstr>Glacial Indifference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Prototipagem - Eng Software 2026</dc:title>
  <dc:creator>Joao Pedro Ortolan Pereira</dc:creator>
  <cp:lastModifiedBy>Joao Pedro Ortolan Pereira</cp:lastModifiedBy>
  <cp:revision>8</cp:revision>
  <dcterms:created xsi:type="dcterms:W3CDTF">2006-08-16T00:00:00Z</dcterms:created>
  <dcterms:modified xsi:type="dcterms:W3CDTF">2026-06-12T01:03:00Z</dcterms:modified>
  <dc:identifier>DAG_EDnx_7c</dc:identifier>
</cp:coreProperties>
</file>