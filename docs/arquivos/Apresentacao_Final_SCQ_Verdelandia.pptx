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6" r:id="rId10"/>
    <p:sldId id="274" r:id="rId11"/>
  </p:sldIdLst>
  <p:sldSz cx="18288000" cy="10287000"/>
  <p:notesSz cx="6858000" cy="9144000"/>
  <p:embeddedFontLst>
    <p:embeddedFont>
      <p:font typeface="Glacial Indifference Bold" panose="020B0604020202020204" charset="0"/>
      <p:regular r:id="rId12"/>
    </p:embeddedFont>
    <p:embeddedFont>
      <p:font typeface="Neue Haas Grotesk Text Pro" panose="020B0504020202020204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22" autoAdjust="0"/>
  </p:normalViewPr>
  <p:slideViewPr>
    <p:cSldViewPr>
      <p:cViewPr varScale="1">
        <p:scale>
          <a:sx n="70" d="100"/>
          <a:sy n="70" d="100"/>
        </p:scale>
        <p:origin x="81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7764239"/>
            <a:ext cx="17460468" cy="126824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470" y="8970264"/>
            <a:ext cx="17419320" cy="79552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1330" y="400050"/>
            <a:ext cx="17474184" cy="7280721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1" y="9587486"/>
            <a:ext cx="4208108" cy="495699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206772" y="9587486"/>
            <a:ext cx="5241471" cy="495699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448244" y="9587486"/>
            <a:ext cx="643811" cy="495699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116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75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90393" y="313132"/>
            <a:ext cx="6099108" cy="558890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03094" y="7269480"/>
            <a:ext cx="6099108" cy="207111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1480" y="400049"/>
            <a:ext cx="10858497" cy="9484337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99722" y="9587484"/>
            <a:ext cx="4055666" cy="507492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716250" y="9587484"/>
            <a:ext cx="1548126" cy="507492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264376" y="9583256"/>
            <a:ext cx="685800" cy="507492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92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7897" y="2294314"/>
            <a:ext cx="12232206" cy="3485825"/>
          </a:xfrm>
        </p:spPr>
        <p:txBody>
          <a:bodyPr anchor="b">
            <a:normAutofit/>
          </a:bodyPr>
          <a:lstStyle>
            <a:lvl1pPr algn="ctr">
              <a:defRPr sz="810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6073" y="6080256"/>
            <a:ext cx="8955855" cy="160901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0917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94" y="4800600"/>
            <a:ext cx="13504343" cy="5373276"/>
          </a:xfrm>
        </p:spPr>
        <p:txBody>
          <a:bodyPr anchor="b">
            <a:normAutofit/>
          </a:bodyPr>
          <a:lstStyle>
            <a:lvl1pPr>
              <a:defRPr sz="1035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8057" y="211824"/>
            <a:ext cx="4055666" cy="507492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716250" y="211824"/>
            <a:ext cx="1548126" cy="507492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264376" y="211824"/>
            <a:ext cx="685800" cy="507492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920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723" y="284534"/>
            <a:ext cx="17012858" cy="2444228"/>
          </a:xfrm>
        </p:spPr>
        <p:txBody>
          <a:bodyPr anchor="t">
            <a:normAutofit/>
          </a:bodyPr>
          <a:lstStyle>
            <a:lvl1pPr>
              <a:defRPr sz="1140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4000" y="3543300"/>
            <a:ext cx="8743950" cy="5715000"/>
          </a:xfrm>
        </p:spPr>
        <p:txBody>
          <a:bodyPr vert="horz" lIns="91440" tIns="45720" rIns="91440" bIns="45720" rtlCol="0" anchor="b">
            <a:normAutofit/>
          </a:bodyPr>
          <a:lstStyle>
            <a:lvl1pPr marL="685800" indent="-685800">
              <a:buFont typeface="+mj-lt"/>
              <a:buAutoNum type="arabicPeriod"/>
              <a:defRPr lang="en-US" sz="2400" dirty="0"/>
            </a:lvl1pPr>
            <a:lvl2pPr marL="857250" indent="-514350">
              <a:buFont typeface="+mj-lt"/>
              <a:buAutoNum type="arabicPeriod"/>
              <a:defRPr lang="en-US" sz="2400" dirty="0"/>
            </a:lvl2pPr>
            <a:lvl3pPr marL="1200150" indent="-514350">
              <a:buFont typeface="+mj-lt"/>
              <a:buAutoNum type="arabicPeriod"/>
              <a:defRPr lang="en-US" sz="2400" dirty="0"/>
            </a:lvl3pPr>
            <a:lvl4pPr>
              <a:buFont typeface="+mj-lt"/>
              <a:buAutoNum type="arabicPeriod"/>
              <a:defRPr lang="en-US" sz="2400" dirty="0"/>
            </a:lvl4pPr>
            <a:lvl5pPr>
              <a:buFont typeface="+mj-lt"/>
              <a:buAutoNum type="arabicPeriod"/>
              <a:defRPr lang="en-US" sz="24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282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6092794"/>
            <a:ext cx="8869680" cy="3402539"/>
          </a:xfrm>
        </p:spPr>
        <p:txBody>
          <a:bodyPr anchor="t">
            <a:normAutofit/>
          </a:bodyPr>
          <a:lstStyle>
            <a:lvl1pPr>
              <a:defRPr sz="87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11480" y="402762"/>
            <a:ext cx="17474184" cy="5413628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273960" y="6058677"/>
            <a:ext cx="6629402" cy="3402540"/>
          </a:xfrm>
        </p:spPr>
        <p:txBody>
          <a:bodyPr vert="horz" lIns="91440" tIns="45720" rIns="91440" bIns="45720" rtlCol="0">
            <a:normAutofit/>
          </a:bodyPr>
          <a:lstStyle>
            <a:lvl1pPr marL="514350" indent="-514350">
              <a:buFont typeface="+mj-lt"/>
              <a:buAutoNum type="arabicPeriod"/>
              <a:defRPr lang="en-US" sz="2100" dirty="0"/>
            </a:lvl1pPr>
            <a:lvl2pPr marL="857250" indent="-514350">
              <a:buFont typeface="+mj-lt"/>
              <a:buAutoNum type="arabicPeriod"/>
              <a:defRPr lang="en-US" sz="2100" dirty="0"/>
            </a:lvl2pPr>
            <a:lvl3pPr marL="1200150" indent="-514350">
              <a:buFont typeface="+mj-lt"/>
              <a:buAutoNum type="arabicPeriod"/>
              <a:defRPr lang="en-US" sz="2100" dirty="0"/>
            </a:lvl3pPr>
            <a:lvl4pPr>
              <a:buFont typeface="+mj-lt"/>
              <a:buAutoNum type="arabicPeriod"/>
              <a:defRPr lang="en-US" sz="2100" dirty="0"/>
            </a:lvl4pPr>
            <a:lvl5pPr>
              <a:buFont typeface="+mj-lt"/>
              <a:buAutoNum type="arabicPeriod"/>
              <a:defRPr lang="en-US" sz="2100" dirty="0"/>
            </a:lvl5pPr>
          </a:lstStyle>
          <a:p>
            <a:pPr marL="342900" lvl="0" indent="-342900"/>
            <a:r>
              <a:rPr lang="pt-BR"/>
              <a:t>Clique para editar os estilos de texto Mestres</a:t>
            </a:r>
          </a:p>
          <a:p>
            <a:pPr marL="342900" lvl="1" indent="-342900"/>
            <a:r>
              <a:rPr lang="pt-BR"/>
              <a:t>Segundo nível</a:t>
            </a:r>
          </a:p>
          <a:p>
            <a:pPr marL="342900" lvl="2" indent="-342900"/>
            <a:r>
              <a:rPr lang="pt-BR"/>
              <a:t>Terceiro nível</a:t>
            </a:r>
          </a:p>
          <a:p>
            <a:pPr marL="342900" lvl="3" indent="-342900"/>
            <a:r>
              <a:rPr lang="pt-BR"/>
              <a:t>Quarto nível</a:t>
            </a:r>
          </a:p>
          <a:p>
            <a:pPr marL="342900" lvl="4" indent="-342900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1" y="9581606"/>
            <a:ext cx="4055666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6039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697" y="2457448"/>
            <a:ext cx="4972050" cy="5809902"/>
          </a:xfrm>
        </p:spPr>
        <p:txBody>
          <a:bodyPr anchor="t">
            <a:normAutofit/>
          </a:bodyPr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1529" y="2457449"/>
            <a:ext cx="9121140" cy="580990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188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29185"/>
            <a:ext cx="4965591" cy="6087191"/>
          </a:xfrm>
        </p:spPr>
        <p:txBody>
          <a:bodyPr anchor="t">
            <a:normAutofit/>
          </a:bodyPr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59012" y="400050"/>
            <a:ext cx="11532743" cy="907175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944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9288" y="329184"/>
            <a:ext cx="9564821" cy="1599009"/>
          </a:xfrm>
        </p:spPr>
        <p:txBody>
          <a:bodyPr anchor="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1480" y="402860"/>
            <a:ext cx="6629400" cy="9488954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79289" y="1928194"/>
            <a:ext cx="9564819" cy="7479533"/>
          </a:xfrm>
        </p:spPr>
        <p:txBody>
          <a:bodyPr anchor="b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79290" y="9581606"/>
            <a:ext cx="4055666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64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3054" y="329184"/>
            <a:ext cx="10861946" cy="1385316"/>
          </a:xfrm>
        </p:spPr>
        <p:txBody>
          <a:bodyPr anchor="t"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1480" y="402860"/>
            <a:ext cx="5513832" cy="9491472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3053" y="1714500"/>
            <a:ext cx="10861947" cy="7859268"/>
          </a:xfrm>
        </p:spPr>
        <p:txBody>
          <a:bodyPr anchor="b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3054" y="9574472"/>
            <a:ext cx="4055666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7369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1" y="329184"/>
            <a:ext cx="10861946" cy="1385316"/>
          </a:xfrm>
        </p:spPr>
        <p:txBody>
          <a:bodyPr anchor="t"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74320" y="1714500"/>
            <a:ext cx="10861947" cy="7859268"/>
          </a:xfrm>
        </p:spPr>
        <p:txBody>
          <a:bodyPr anchor="b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4321" y="9574472"/>
            <a:ext cx="4055666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88140" y="9580692"/>
            <a:ext cx="1548126" cy="507492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6266" y="9580692"/>
            <a:ext cx="685800" cy="507492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374118" y="402860"/>
            <a:ext cx="5513832" cy="9491472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2068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83" y="329184"/>
            <a:ext cx="7076144" cy="1771332"/>
          </a:xfrm>
        </p:spPr>
        <p:txBody>
          <a:bodyPr anchor="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78783" y="2100516"/>
            <a:ext cx="7093568" cy="7307210"/>
          </a:xfrm>
        </p:spPr>
        <p:txBody>
          <a:bodyPr anchor="b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82258" y="9586193"/>
            <a:ext cx="1948176" cy="507492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330434" y="9586193"/>
            <a:ext cx="685800" cy="507492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401055" y="400050"/>
            <a:ext cx="9486704" cy="94869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2746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2" y="331304"/>
            <a:ext cx="4812030" cy="4632953"/>
          </a:xfrm>
        </p:spPr>
        <p:txBody>
          <a:bodyPr anchor="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29450" y="400050"/>
            <a:ext cx="5250807" cy="94869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691631" y="331305"/>
            <a:ext cx="4800600" cy="9083331"/>
          </a:xfrm>
        </p:spPr>
        <p:txBody>
          <a:bodyPr anchor="b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2689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0633" y="329185"/>
            <a:ext cx="5837153" cy="1838009"/>
          </a:xfrm>
        </p:spPr>
        <p:txBody>
          <a:bodyPr anchor="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05710" y="397764"/>
            <a:ext cx="10476954" cy="9491472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270630" y="2153478"/>
            <a:ext cx="5837153" cy="7250793"/>
          </a:xfrm>
        </p:spPr>
        <p:txBody>
          <a:bodyPr anchor="b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272619" y="9580692"/>
            <a:ext cx="4055666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104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81" y="329184"/>
            <a:ext cx="4852473" cy="2365827"/>
          </a:xfrm>
        </p:spPr>
        <p:txBody>
          <a:bodyPr anchor="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78781" y="2695013"/>
            <a:ext cx="4852473" cy="670721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8058" y="9580692"/>
            <a:ext cx="3143655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09624" y="9586193"/>
            <a:ext cx="1548126" cy="507492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57750" y="9586193"/>
            <a:ext cx="685800" cy="507492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48675" y="397764"/>
            <a:ext cx="11939276" cy="9491472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018917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818" y="324678"/>
            <a:ext cx="5072381" cy="3320286"/>
          </a:xfrm>
        </p:spPr>
        <p:txBody>
          <a:bodyPr anchor="t">
            <a:normAutofit/>
          </a:bodyPr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43600" y="266238"/>
            <a:ext cx="11944350" cy="3429000"/>
          </a:xfrm>
        </p:spPr>
        <p:txBody>
          <a:bodyPr>
            <a:normAutofit/>
          </a:bodyPr>
          <a:lstStyle>
            <a:lvl1pPr marL="428625" indent="-428625">
              <a:buFont typeface="Arial" panose="020B0604020202020204" pitchFamily="34" charset="0"/>
              <a:buChar char="•"/>
              <a:defRPr sz="2100"/>
            </a:lvl1pPr>
            <a:lvl2pPr marL="771525" indent="-428625">
              <a:buFont typeface="Arial" panose="020B0604020202020204" pitchFamily="34" charset="0"/>
              <a:buChar char="•"/>
              <a:defRPr sz="2100"/>
            </a:lvl2pPr>
            <a:lvl3pPr marL="1114425" indent="-428625">
              <a:buFont typeface="Arial" panose="020B0604020202020204" pitchFamily="34" charset="0"/>
              <a:buChar char="•"/>
              <a:defRPr sz="2100"/>
            </a:lvl3pPr>
            <a:lvl4pPr marL="1285875" indent="-257175">
              <a:buFont typeface="Arial" panose="020B0604020202020204" pitchFamily="34" charset="0"/>
              <a:buChar char="•"/>
              <a:defRPr sz="2100"/>
            </a:lvl4pPr>
            <a:lvl5pPr marL="1628775" indent="-257175"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8818" y="3770196"/>
            <a:ext cx="4208108" cy="50749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345509" y="3774366"/>
            <a:ext cx="1926015" cy="507492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264378" y="3770196"/>
            <a:ext cx="673959" cy="507492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1330" y="4402920"/>
            <a:ext cx="17476620" cy="548403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801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1" y="329185"/>
            <a:ext cx="4758962" cy="4717529"/>
          </a:xfrm>
        </p:spPr>
        <p:txBody>
          <a:bodyPr anchor="t">
            <a:normAutofit/>
          </a:bodyPr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00750" y="397999"/>
            <a:ext cx="11887200" cy="4643756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71848" y="5315396"/>
            <a:ext cx="12016101" cy="426529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8055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47732" y="1140227"/>
            <a:ext cx="14592539" cy="6350510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7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9414" y="7882739"/>
            <a:ext cx="13949172" cy="1537989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3600" spc="-75" baseline="0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69414" y="1939637"/>
            <a:ext cx="13949172" cy="5915882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39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376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8972" y="-1700784"/>
            <a:ext cx="15979140" cy="13716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1" y="260605"/>
            <a:ext cx="15713249" cy="7275977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11400" b="0" cap="none" spc="-75" baseline="0"/>
            </a:lvl1pPr>
            <a:lvl2pPr marL="342900" indent="0">
              <a:lnSpc>
                <a:spcPct val="90000"/>
              </a:lnSpc>
              <a:buNone/>
              <a:defRPr sz="9900" b="0" cap="none" spc="-75" baseline="0"/>
            </a:lvl2pPr>
            <a:lvl3pPr marL="685800" indent="0">
              <a:lnSpc>
                <a:spcPct val="90000"/>
              </a:lnSpc>
              <a:buNone/>
              <a:defRPr sz="9000" b="0" cap="none" spc="-75" baseline="0"/>
            </a:lvl3pPr>
            <a:lvl4pPr marL="1028700" indent="0">
              <a:lnSpc>
                <a:spcPct val="90000"/>
              </a:lnSpc>
              <a:buNone/>
              <a:defRPr sz="8100" b="0" cap="none" spc="-75" baseline="0"/>
            </a:lvl4pPr>
            <a:lvl5pPr marL="1371600" indent="0">
              <a:lnSpc>
                <a:spcPct val="90000"/>
              </a:lnSpc>
              <a:buNone/>
              <a:defRPr sz="7200" b="0" cap="none" spc="-75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505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83176" y="7543800"/>
            <a:ext cx="13798296" cy="1069848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3000" b="1" spc="-75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83176" y="1673352"/>
            <a:ext cx="13798296" cy="5376672"/>
          </a:xfrm>
        </p:spPr>
        <p:txBody>
          <a:bodyPr anchor="ctr">
            <a:normAutofit/>
          </a:bodyPr>
          <a:lstStyle>
            <a:lvl1pPr marL="205740" indent="-20574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7500" spc="-75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118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29184"/>
            <a:ext cx="16990056" cy="1562346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4321" y="2468880"/>
            <a:ext cx="8130614" cy="71123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372600" y="2468880"/>
            <a:ext cx="7891776" cy="71123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4350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779" y="329185"/>
            <a:ext cx="16911828" cy="118477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1778" y="1513960"/>
            <a:ext cx="7818120" cy="839751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1" cap="all" baseline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2447" y="2474177"/>
            <a:ext cx="7818120" cy="65151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368028" y="1513960"/>
            <a:ext cx="7818120" cy="839751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1" cap="all" baseline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368028" y="2474177"/>
            <a:ext cx="7818120" cy="65151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5062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910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9524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92" y="310842"/>
            <a:ext cx="16502915" cy="2686050"/>
          </a:xfrm>
        </p:spPr>
        <p:txBody>
          <a:bodyPr anchor="t">
            <a:noAutofit/>
          </a:bodyPr>
          <a:lstStyle>
            <a:lvl1pPr>
              <a:defRPr sz="10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33293" y="4896612"/>
            <a:ext cx="15221415" cy="425196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8080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370" y="1633871"/>
            <a:ext cx="9541260" cy="3257574"/>
          </a:xfrm>
        </p:spPr>
        <p:txBody>
          <a:bodyPr anchor="b">
            <a:noAutofit/>
          </a:bodyPr>
          <a:lstStyle>
            <a:lvl1pPr algn="ctr">
              <a:defRPr sz="10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84296" y="5249820"/>
            <a:ext cx="8315325" cy="2657475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2400" dirty="0"/>
            </a:lvl1pPr>
            <a:lvl2pPr marL="342900" indent="0" algn="ctr">
              <a:buNone/>
              <a:defRPr lang="en-US" sz="2400" dirty="0"/>
            </a:lvl2pPr>
            <a:lvl3pPr marL="685800" indent="0" algn="ctr">
              <a:buNone/>
              <a:defRPr lang="en-US" sz="2400" dirty="0"/>
            </a:lvl3pPr>
            <a:lvl4pPr marL="1028700" indent="0" algn="ctr">
              <a:buNone/>
              <a:defRPr lang="en-US" sz="2400" dirty="0"/>
            </a:lvl4pPr>
            <a:lvl5pPr marL="1371600" indent="0" algn="ctr">
              <a:buNone/>
              <a:defRPr lang="en-US" sz="24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4521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29184"/>
            <a:ext cx="16253460" cy="14538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320" y="1774809"/>
            <a:ext cx="16253460" cy="7633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8057" y="9580692"/>
            <a:ext cx="4055666" cy="50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25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716250" y="9580692"/>
            <a:ext cx="1548126" cy="50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25"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4376" y="9580692"/>
            <a:ext cx="685800" cy="50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25"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50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1371600" rtl="0" eaLnBrk="1" latinLnBrk="0" hangingPunct="1">
        <a:lnSpc>
          <a:spcPct val="85000"/>
        </a:lnSpc>
        <a:spcBef>
          <a:spcPct val="0"/>
        </a:spcBef>
        <a:buNone/>
        <a:defRPr sz="4500" b="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8625" indent="-428625" algn="l" defTabSz="1371600" rtl="0" eaLnBrk="1" latinLnBrk="0" hangingPunct="1">
        <a:lnSpc>
          <a:spcPct val="120000"/>
        </a:lnSpc>
        <a:spcBef>
          <a:spcPts val="1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428625" algn="l" defTabSz="13716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114425" indent="-428625" algn="l" defTabSz="13716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457325" indent="-428625" algn="l" defTabSz="13716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indent="-428625" algn="l" defTabSz="13716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59586" y="1959051"/>
            <a:ext cx="5441784" cy="5441784"/>
          </a:xfrm>
          <a:custGeom>
            <a:avLst/>
            <a:gdLst/>
            <a:ahLst/>
            <a:cxnLst/>
            <a:rect l="l" t="t" r="r" b="b"/>
            <a:pathLst>
              <a:path w="5441784" h="5441784">
                <a:moveTo>
                  <a:pt x="0" y="0"/>
                </a:moveTo>
                <a:lnTo>
                  <a:pt x="5441783" y="0"/>
                </a:lnTo>
                <a:lnTo>
                  <a:pt x="5441783" y="5441783"/>
                </a:lnTo>
                <a:lnTo>
                  <a:pt x="0" y="54417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6818577" y="2179267"/>
            <a:ext cx="10141245" cy="202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225"/>
              </a:lnSpc>
              <a:spcBef>
                <a:spcPct val="0"/>
              </a:spcBef>
            </a:pPr>
            <a:r>
              <a:rPr lang="pt-BR" sz="5400" b="0" dirty="0">
                <a:solidFill>
                  <a:schemeClr val="bg1"/>
                </a:solidFill>
                <a:latin typeface="Glacial Indifference Bold" panose="020B0604020202020204" charset="0"/>
              </a:rPr>
              <a:t>Sistema de Controle de Qualidade — SCQ</a:t>
            </a:r>
            <a:endParaRPr lang="en-US" sz="5400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28600" y="8522709"/>
            <a:ext cx="11338560" cy="17543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600" b="0" dirty="0">
                <a:solidFill>
                  <a:schemeClr val="bg1"/>
                </a:solidFill>
                <a:latin typeface="Glacial Indifference Bold" panose="020B0604020202020204" charset="0"/>
                <a:ea typeface="Calibri" pitchFamily="34" charset="-122"/>
                <a:cs typeface="Calibri" pitchFamily="34" charset="-120"/>
              </a:rPr>
              <a:t>Equipe: Rafael Angelo Silva · João Pedro Ortolan Pereira</a:t>
            </a:r>
            <a:endParaRPr lang="en-US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r>
              <a:rPr lang="en-US" sz="2600" b="0" dirty="0">
                <a:solidFill>
                  <a:schemeClr val="bg1"/>
                </a:solidFill>
                <a:latin typeface="Glacial Indifference Bold" panose="020B0604020202020204" charset="0"/>
                <a:ea typeface="Calibri" pitchFamily="34" charset="-122"/>
                <a:cs typeface="Calibri" pitchFamily="34" charset="-120"/>
              </a:rPr>
              <a:t>Hivan Lucas Rossinolli · João Vinicius</a:t>
            </a:r>
            <a:endParaRPr lang="en-US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r>
              <a:rPr lang="en-US" sz="2600" b="0" dirty="0">
                <a:solidFill>
                  <a:schemeClr val="bg1"/>
                </a:solidFill>
                <a:latin typeface="Glacial Indifference Bold" panose="020B0604020202020204" charset="0"/>
                <a:ea typeface="Calibri" pitchFamily="34" charset="-122"/>
                <a:cs typeface="Calibri" pitchFamily="34" charset="-120"/>
              </a:rPr>
              <a:t>Professor: Gabriel Christopher Dall'Pozzo</a:t>
            </a:r>
            <a:br>
              <a:rPr lang="en-US" sz="3600" dirty="0">
                <a:solidFill>
                  <a:schemeClr val="bg1"/>
                </a:solidFill>
                <a:latin typeface="Glacial Indifference Bold" panose="020B0604020202020204" charset="0"/>
                <a:ea typeface="Calibri" pitchFamily="34" charset="-122"/>
                <a:cs typeface="Calibri" pitchFamily="34" charset="-120"/>
              </a:rPr>
            </a:br>
            <a:endParaRPr lang="en-US" sz="3600" dirty="0">
              <a:solidFill>
                <a:schemeClr val="bg1"/>
              </a:solidFill>
              <a:latin typeface="Glacial Indifference Bold" panose="020B060402020202020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5A6B8C5-D288-92E0-F4FA-529A7D285C5E}"/>
              </a:ext>
            </a:extLst>
          </p:cNvPr>
          <p:cNvSpPr txBox="1"/>
          <p:nvPr/>
        </p:nvSpPr>
        <p:spPr>
          <a:xfrm>
            <a:off x="16093440" y="9326880"/>
            <a:ext cx="1157689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01-10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F4BC767-22C5-9F73-8544-6CFF03AFA8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24544" y="6508954"/>
            <a:ext cx="1442572" cy="144257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5D5000FE-B85F-45B8-1255-28759D6AB3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902530" y="4991100"/>
            <a:ext cx="7086600" cy="15850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9144000" y="1965960"/>
            <a:ext cx="8302752" cy="77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Solução</a:t>
            </a:r>
            <a:endParaRPr lang="en-US" sz="3793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9E6C8D7-121A-0E3E-2C8D-B452D91F9E89}"/>
              </a:ext>
            </a:extLst>
          </p:cNvPr>
          <p:cNvSpPr txBox="1"/>
          <p:nvPr/>
        </p:nvSpPr>
        <p:spPr>
          <a:xfrm>
            <a:off x="16093440" y="9326880"/>
            <a:ext cx="1255472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02-10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B1EA9C6C-2296-C9D1-2B52-4FFCDA4361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9848" y="3063240"/>
            <a:ext cx="7470648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Análises de palito registradas em planilhas Excel.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Fichas FORQSE001 preenchidas manualmente.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Controle de lotes em planilha separada.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Sem controle de acesso e sem histórico de alterações.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E027DB0A-39B4-A26A-91E4-A08E115B8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0" y="3063240"/>
            <a:ext cx="8302752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Análises no sistema, com desconto calculado pelo servidor.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pt-BR" alt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C</a:t>
            </a: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onsulta das informações em tempo real.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Ficha FORQSE001 digital, com geração de PDF.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Coletas registradas e exportadas em Excel.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Acesso por perfil e log de auditoria de cada ação.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6FDCC-F44C-E347-767B-2127AA3EB25B}"/>
              </a:ext>
            </a:extLst>
          </p:cNvPr>
          <p:cNvSpPr txBox="1"/>
          <p:nvPr/>
        </p:nvSpPr>
        <p:spPr>
          <a:xfrm>
            <a:off x="1069848" y="1965960"/>
            <a:ext cx="74706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Problema</a:t>
            </a:r>
            <a:endParaRPr lang="pt-BR" sz="4000" dirty="0"/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E71839FD-09AA-2C0A-3184-17E4AB519B07}"/>
              </a:ext>
            </a:extLst>
          </p:cNvPr>
          <p:cNvCxnSpPr>
            <a:cxnSpLocks/>
          </p:cNvCxnSpPr>
          <p:nvPr/>
        </p:nvCxnSpPr>
        <p:spPr>
          <a:xfrm>
            <a:off x="9073243" y="1714500"/>
            <a:ext cx="0" cy="708660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8D1266FB-6A26-86B4-996C-91657ED40B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1828800" y="1051560"/>
            <a:ext cx="14630400" cy="86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O que o sistema entrega</a:t>
            </a:r>
            <a:endParaRPr lang="en-US" sz="3793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8243410-83B2-7BB6-A595-8634799DE402}"/>
              </a:ext>
            </a:extLst>
          </p:cNvPr>
          <p:cNvSpPr txBox="1"/>
          <p:nvPr/>
        </p:nvSpPr>
        <p:spPr>
          <a:xfrm>
            <a:off x="16093440" y="9326880"/>
            <a:ext cx="1265090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03-10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C028CDA-4C69-9E8C-113F-967EEC7744E1}"/>
              </a:ext>
            </a:extLst>
          </p:cNvPr>
          <p:cNvSpPr txBox="1"/>
          <p:nvPr/>
        </p:nvSpPr>
        <p:spPr>
          <a:xfrm>
            <a:off x="3680460" y="3481506"/>
            <a:ext cx="10927080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Análises de erva-mate — palito, umidade e desconto automático.</a:t>
            </a:r>
            <a:endParaRPr lang="pt-BR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b="0" dirty="0">
                <a:solidFill>
                  <a:schemeClr val="bg1"/>
                </a:solidFill>
                <a:latin typeface="Glacial Indifference Bold" panose="020B0604020202020204" charset="0"/>
              </a:rPr>
              <a:t>Lotes de produção — vinculados às análises e às fichas.</a:t>
            </a:r>
            <a:endParaRPr lang="pt-BR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Fichas FORQSE001 — liberação de embalagens com PDF.</a:t>
            </a:r>
            <a:endParaRPr lang="pt-BR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b="0" dirty="0">
                <a:solidFill>
                  <a:schemeClr val="bg1"/>
                </a:solidFill>
                <a:latin typeface="Glacial Indifference Bold" panose="020B0604020202020204" charset="0"/>
              </a:rPr>
              <a:t>Coletas de amostras — registro e exportação em Excel.</a:t>
            </a:r>
            <a:endParaRPr lang="pt-BR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Usuários e permissões — liberação de abas por pessoa.</a:t>
            </a:r>
            <a:endParaRPr lang="pt-BR" sz="36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b="0" dirty="0">
                <a:solidFill>
                  <a:schemeClr val="bg1"/>
                </a:solidFill>
                <a:latin typeface="Glacial Indifference Bold" panose="020B0604020202020204" charset="0"/>
              </a:rPr>
              <a:t>Auditoria — quem criou, editou ou excluiu cada registro.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Importação de informações.</a:t>
            </a:r>
            <a:endParaRPr lang="pt-BR" sz="3600" dirty="0">
              <a:solidFill>
                <a:schemeClr val="bg1"/>
              </a:solidFill>
              <a:latin typeface="Glacial Indifference Bold" panose="020B060402020202020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8C6F299-56EF-CC0C-C657-92245A7D96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1828800" y="1051560"/>
            <a:ext cx="14630400" cy="86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Demonstração ao vivo</a:t>
            </a:r>
            <a:endParaRPr lang="en-US" sz="3793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8243410-83B2-7BB6-A595-8634799DE402}"/>
              </a:ext>
            </a:extLst>
          </p:cNvPr>
          <p:cNvSpPr txBox="1"/>
          <p:nvPr/>
        </p:nvSpPr>
        <p:spPr>
          <a:xfrm>
            <a:off x="16093440" y="9326880"/>
            <a:ext cx="1293944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04-10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8686800"/>
            <a:ext cx="14630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dirty="0" err="1">
                <a:solidFill>
                  <a:schemeClr val="bg1"/>
                </a:solidFill>
                <a:latin typeface="Glacial Indifference Bold"/>
              </a:rPr>
              <a:t>sistema-controle-qualidade-verdelan.vercel.app</a:t>
            </a:r>
            <a:endParaRPr sz="2600" b="1" dirty="0">
              <a:solidFill>
                <a:schemeClr val="bg1"/>
              </a:solidFill>
              <a:latin typeface="Glacial Indifference Bold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AA4AD13-9763-544E-F0BC-0A68EFBB0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6223668-1FA4-11B5-AD34-5828773E7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0551" y="2005113"/>
            <a:ext cx="14526897" cy="62767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1828800" y="1285787"/>
            <a:ext cx="14630400" cy="86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Impacto para a entidade</a:t>
            </a:r>
            <a:endParaRPr lang="en-US" sz="3793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8243410-83B2-7BB6-A595-8634799DE402}"/>
              </a:ext>
            </a:extLst>
          </p:cNvPr>
          <p:cNvSpPr txBox="1"/>
          <p:nvPr/>
        </p:nvSpPr>
        <p:spPr>
          <a:xfrm>
            <a:off x="16093440" y="9326880"/>
            <a:ext cx="1268296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05-10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C028CDA-4C69-9E8C-113F-967EEC7744E1}"/>
              </a:ext>
            </a:extLst>
          </p:cNvPr>
          <p:cNvSpPr txBox="1"/>
          <p:nvPr/>
        </p:nvSpPr>
        <p:spPr>
          <a:xfrm>
            <a:off x="3741420" y="3712339"/>
            <a:ext cx="1080516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O desconto não depende mais de fórmula em planilha.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000" b="0" dirty="0">
                <a:solidFill>
                  <a:schemeClr val="bg1"/>
                </a:solidFill>
                <a:latin typeface="Glacial Indifference Bold" panose="020B0604020202020204" charset="0"/>
              </a:rPr>
              <a:t>Consulta por produtor, período ou lote em segundos.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Relatórios em Excel e </a:t>
            </a:r>
            <a:r>
              <a:rPr lang="pt-BR" sz="3000" b="1" dirty="0" err="1">
                <a:solidFill>
                  <a:schemeClr val="bg1"/>
                </a:solidFill>
                <a:latin typeface="Glacial Indifference Bold" panose="020B0604020202020204" charset="0"/>
              </a:rPr>
              <a:t>pdf</a:t>
            </a: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000" b="0" dirty="0">
                <a:solidFill>
                  <a:schemeClr val="bg1"/>
                </a:solidFill>
                <a:latin typeface="Glacial Indifference Bold" panose="020B0604020202020204" charset="0"/>
              </a:rPr>
              <a:t>Cada registro tem autor, data e histórico de alteração.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Mais de uma pessoa trabalha ao mesmo tempo.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000" b="0" dirty="0">
                <a:solidFill>
                  <a:schemeClr val="bg1"/>
                </a:solidFill>
                <a:latin typeface="Glacial Indifference Bold" panose="020B0604020202020204" charset="0"/>
              </a:rPr>
              <a:t>Base pronta para receber o histórico das planilhas.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0AC88BD-A2D5-BF15-3F6B-4ACBBACFC9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9073243" y="2122806"/>
            <a:ext cx="8302752" cy="77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Infraestrutura</a:t>
            </a:r>
            <a:endParaRPr lang="en-US" sz="3793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9E6C8D7-121A-0E3E-2C8D-B452D91F9E89}"/>
              </a:ext>
            </a:extLst>
          </p:cNvPr>
          <p:cNvSpPr txBox="1"/>
          <p:nvPr/>
        </p:nvSpPr>
        <p:spPr>
          <a:xfrm>
            <a:off x="16093440" y="9326880"/>
            <a:ext cx="1277914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06-10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B1EA9C6C-2296-C9D1-2B52-4FFCDA4361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907" y="3804672"/>
            <a:ext cx="619089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React 18 + TypeScript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Vite e Tailwind CSS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Recharts para os gráficos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Node.js 20 + Express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Prisma ORM e PostgreSQL 16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JWT, pdfmake e ExcelJS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E027DB0A-39B4-A26A-91E4-A08E115B8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34600" y="4235559"/>
            <a:ext cx="6787242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Front-end hospedado na Vercel</a:t>
            </a:r>
            <a:endParaRPr kumimoji="0" lang="pt-BR" altLang="pt-BR" sz="3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Glacial Indifference Bold" panose="020B060402020202020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API e banco hospedados no Railway</a:t>
            </a:r>
            <a:endParaRPr kumimoji="0" lang="pt-BR" altLang="pt-BR" sz="3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Glacial Indifference Bold" panose="020B060402020202020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GitHub com deploy automático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3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Astah</a:t>
            </a:r>
            <a:r>
              <a:rPr kumimoji="0" lang="pt-BR" altLang="pt-BR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lacial Indifference Bold" panose="020B0604020202020204" charset="0"/>
              </a:rPr>
              <a:t> para a modelagem UML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6FDCC-F44C-E347-767B-2127AA3EB25B}"/>
              </a:ext>
            </a:extLst>
          </p:cNvPr>
          <p:cNvSpPr txBox="1"/>
          <p:nvPr/>
        </p:nvSpPr>
        <p:spPr>
          <a:xfrm>
            <a:off x="1081571" y="2122806"/>
            <a:ext cx="7470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Tecnologias</a:t>
            </a:r>
            <a:endParaRPr lang="pt-BR" sz="4000" dirty="0"/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E71839FD-09AA-2C0A-3184-17E4AB519B07}"/>
              </a:ext>
            </a:extLst>
          </p:cNvPr>
          <p:cNvCxnSpPr>
            <a:cxnSpLocks/>
          </p:cNvCxnSpPr>
          <p:nvPr/>
        </p:nvCxnSpPr>
        <p:spPr>
          <a:xfrm>
            <a:off x="9073243" y="1714500"/>
            <a:ext cx="0" cy="708660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9D1FCFCE-6113-F37E-8870-63F977C660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1828800" y="1730092"/>
            <a:ext cx="14630400" cy="86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Desafios técnicos superados</a:t>
            </a:r>
            <a:endParaRPr lang="en-US" sz="3793" b="1" dirty="0">
              <a:solidFill>
                <a:schemeClr val="bg1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8243410-83B2-7BB6-A595-8634799DE402}"/>
              </a:ext>
            </a:extLst>
          </p:cNvPr>
          <p:cNvSpPr txBox="1"/>
          <p:nvPr/>
        </p:nvSpPr>
        <p:spPr>
          <a:xfrm>
            <a:off x="16093440" y="9326880"/>
            <a:ext cx="1269899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07-10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C028CDA-4C69-9E8C-113F-967EEC7744E1}"/>
              </a:ext>
            </a:extLst>
          </p:cNvPr>
          <p:cNvSpPr txBox="1"/>
          <p:nvPr/>
        </p:nvSpPr>
        <p:spPr>
          <a:xfrm>
            <a:off x="5562600" y="4235559"/>
            <a:ext cx="71628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Aplicação e banco no mesmo provedor.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Ambiente local não prova nada.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Segurança se configura no início.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Requisito que já existe em papel.</a:t>
            </a:r>
            <a:endParaRPr lang="pt-BR" sz="3000" dirty="0">
              <a:solidFill>
                <a:schemeClr val="bg1"/>
              </a:solidFill>
              <a:latin typeface="Glacial Indifference Bold" panose="020B060402020202020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E757923-1C6C-DBE5-95F5-D3D42E5518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9E6C8D7-121A-0E3E-2C8D-B452D91F9E89}"/>
              </a:ext>
            </a:extLst>
          </p:cNvPr>
          <p:cNvSpPr txBox="1"/>
          <p:nvPr/>
        </p:nvSpPr>
        <p:spPr>
          <a:xfrm>
            <a:off x="16093440" y="9326880"/>
            <a:ext cx="1273105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08-10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6FDCC-F44C-E347-767B-2127AA3EB25B}"/>
              </a:ext>
            </a:extLst>
          </p:cNvPr>
          <p:cNvSpPr txBox="1"/>
          <p:nvPr/>
        </p:nvSpPr>
        <p:spPr>
          <a:xfrm>
            <a:off x="1069848" y="1965960"/>
            <a:ext cx="7470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Lições Aprendidas</a:t>
            </a:r>
            <a:endParaRPr lang="pt-BR" sz="4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C4A1E8D-9EFA-2745-A7E2-0174D6B359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4D45937-13BC-B114-94F9-EC694AAC3498}"/>
              </a:ext>
            </a:extLst>
          </p:cNvPr>
          <p:cNvSpPr txBox="1"/>
          <p:nvPr/>
        </p:nvSpPr>
        <p:spPr>
          <a:xfrm>
            <a:off x="1069848" y="3173812"/>
            <a:ext cx="6553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O que funcionou:</a:t>
            </a:r>
          </a:p>
          <a:p>
            <a:endParaRPr lang="pt-BR" sz="3000" b="1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Critérios de aceite escritos antes de codificar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Formulários refinados junto com a analista de qualidade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Casos de teste documentados por </a:t>
            </a:r>
            <a:r>
              <a:rPr lang="pt-BR" sz="3000" dirty="0" err="1">
                <a:solidFill>
                  <a:schemeClr val="bg1"/>
                </a:solidFill>
                <a:latin typeface="Glacial Indifference Bold" panose="020B0604020202020204" charset="0"/>
              </a:rPr>
              <a:t>user</a:t>
            </a: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 story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Software rodando ao fim de cada ciclo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AD9BE40-F614-9CBC-9564-00CC5E978075}"/>
              </a:ext>
            </a:extLst>
          </p:cNvPr>
          <p:cNvSpPr txBox="1"/>
          <p:nvPr/>
        </p:nvSpPr>
        <p:spPr>
          <a:xfrm>
            <a:off x="9372600" y="3404645"/>
            <a:ext cx="7086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O que ajustaríamos:</a:t>
            </a:r>
          </a:p>
          <a:p>
            <a:endParaRPr lang="pt-BR" sz="3000" b="1" dirty="0">
              <a:solidFill>
                <a:schemeClr val="bg1"/>
              </a:solidFill>
              <a:latin typeface="Glacial Indifference Bold" panose="020B0604020202020204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Validar layout de documento com o usuário antes de codificar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Fechar o escopo técnico de bibliotecas novas no planejamento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000" dirty="0">
                <a:solidFill>
                  <a:schemeClr val="bg1"/>
                </a:solidFill>
                <a:latin typeface="Glacial Indifference Bold" panose="020B0604020202020204" charset="0"/>
              </a:rPr>
              <a:t>Revisar o backlog ao fim de cada sprint, não só no planejamento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049753A-9F2B-EAFF-7EEA-508F936A7075}"/>
              </a:ext>
            </a:extLst>
          </p:cNvPr>
          <p:cNvCxnSpPr>
            <a:cxnSpLocks/>
          </p:cNvCxnSpPr>
          <p:nvPr/>
        </p:nvCxnSpPr>
        <p:spPr>
          <a:xfrm>
            <a:off x="9073243" y="1714500"/>
            <a:ext cx="0" cy="708660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E9544E-AF9F-F91A-C775-59D71EF53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0CDBF8-61C8-0564-0427-ACA46E1B16DB}"/>
              </a:ext>
            </a:extLst>
          </p:cNvPr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80A4780-2B9C-3B8D-F2A0-6ACCDCCC6ECB}"/>
              </a:ext>
            </a:extLst>
          </p:cNvPr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A931124-8430-196C-E52C-0498473B7F74}"/>
              </a:ext>
            </a:extLst>
          </p:cNvPr>
          <p:cNvSpPr txBox="1"/>
          <p:nvPr/>
        </p:nvSpPr>
        <p:spPr>
          <a:xfrm>
            <a:off x="16093440" y="9326880"/>
            <a:ext cx="1273105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09-10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2A895E5-9614-17CD-2B2B-BEF7B25FD97B}"/>
              </a:ext>
            </a:extLst>
          </p:cNvPr>
          <p:cNvSpPr txBox="1"/>
          <p:nvPr/>
        </p:nvSpPr>
        <p:spPr>
          <a:xfrm>
            <a:off x="1069848" y="1965960"/>
            <a:ext cx="747064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  <a:latin typeface="Glacial Indifference Bold" panose="020B0604020202020204" charset="0"/>
              </a:rPr>
              <a:t>Próximos passos e melhorias futuras</a:t>
            </a:r>
            <a:endParaRPr lang="pt-BR" sz="4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B861780-E437-6ED3-8EAF-8A3A0B75F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348" y="8844428"/>
            <a:ext cx="1442572" cy="144257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C7052FF-D577-3E80-05C5-740D5BA102B7}"/>
              </a:ext>
            </a:extLst>
          </p:cNvPr>
          <p:cNvSpPr txBox="1"/>
          <p:nvPr/>
        </p:nvSpPr>
        <p:spPr>
          <a:xfrm>
            <a:off x="2592324" y="3543300"/>
            <a:ext cx="1310335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Carga do histórico de análises que hoje está em planilha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Domínio próprio da empresa no lugar do endereço de hospedagem.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Aviso automático ao setor de compras quando o desconto passar do limite.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Relatórios gerenciais mensais para o perfil Gestor.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Histórico e exportação de análises por produtor.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Código-fonte da entidade, com </a:t>
            </a:r>
            <a:r>
              <a:rPr lang="pt-BR" sz="3000" b="1" dirty="0" err="1">
                <a:solidFill>
                  <a:schemeClr val="bg1"/>
                </a:solidFill>
                <a:latin typeface="Glacial Indifference Bold" panose="020B0604020202020204" charset="0"/>
              </a:rPr>
              <a:t>deploy</a:t>
            </a:r>
            <a:r>
              <a:rPr lang="pt-BR" sz="3000" b="1" dirty="0">
                <a:solidFill>
                  <a:schemeClr val="bg1"/>
                </a:solidFill>
                <a:latin typeface="Glacial Indifference Bold" panose="020B0604020202020204" charset="0"/>
              </a:rPr>
              <a:t> automático.</a:t>
            </a:r>
          </a:p>
        </p:txBody>
      </p:sp>
    </p:spTree>
    <p:extLst>
      <p:ext uri="{BB962C8B-B14F-4D97-AF65-F5344CB8AC3E}">
        <p14:creationId xmlns:p14="http://schemas.microsoft.com/office/powerpoint/2010/main" val="1014655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37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6499" y="146519"/>
            <a:ext cx="1458408" cy="1101967"/>
          </a:xfrm>
          <a:custGeom>
            <a:avLst/>
            <a:gdLst/>
            <a:ahLst/>
            <a:cxnLst/>
            <a:rect l="l" t="t" r="r" b="b"/>
            <a:pathLst>
              <a:path w="1458408" h="1101967">
                <a:moveTo>
                  <a:pt x="0" y="0"/>
                </a:moveTo>
                <a:lnTo>
                  <a:pt x="1458409" y="0"/>
                </a:lnTo>
                <a:lnTo>
                  <a:pt x="1458409" y="1101967"/>
                </a:lnTo>
                <a:lnTo>
                  <a:pt x="0" y="110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72" b="-3363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14908" y="618160"/>
            <a:ext cx="2500632" cy="600020"/>
          </a:xfrm>
          <a:custGeom>
            <a:avLst/>
            <a:gdLst/>
            <a:ahLst/>
            <a:cxnLst/>
            <a:rect l="l" t="t" r="r" b="b"/>
            <a:pathLst>
              <a:path w="2500632" h="600020">
                <a:moveTo>
                  <a:pt x="0" y="0"/>
                </a:moveTo>
                <a:lnTo>
                  <a:pt x="2500632" y="0"/>
                </a:lnTo>
                <a:lnTo>
                  <a:pt x="2500632" y="600020"/>
                </a:lnTo>
                <a:lnTo>
                  <a:pt x="0" y="60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2" t="-350180" b="-1251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1828800" y="4305300"/>
            <a:ext cx="14630400" cy="1463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10"/>
              </a:lnSpc>
              <a:spcBef>
                <a:spcPct val="0"/>
              </a:spcBef>
            </a:pPr>
            <a:r>
              <a:rPr lang="en-US" sz="5400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Agradecemos pela atenção!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E373FA8-A056-DBE5-9567-D6FD69CA0580}"/>
              </a:ext>
            </a:extLst>
          </p:cNvPr>
          <p:cNvSpPr txBox="1"/>
          <p:nvPr/>
        </p:nvSpPr>
        <p:spPr>
          <a:xfrm>
            <a:off x="16093440" y="9326880"/>
            <a:ext cx="1157689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3500" b="0" dirty="0">
                <a:solidFill>
                  <a:schemeClr val="bg1"/>
                </a:solidFill>
                <a:latin typeface="Glacial Indifference Bold" panose="020B0604020202020204" charset="0"/>
              </a:rPr>
              <a:t>10-10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813C6FC-19DC-E7F2-6710-9AD2C2A6C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2503" y="5166249"/>
            <a:ext cx="3042994" cy="3042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una">
  <a:themeElements>
    <a:clrScheme name="Duna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500</TotalTime>
  <Words>469</Words>
  <Application>Microsoft Office PowerPoint</Application>
  <PresentationFormat>Personalizar</PresentationFormat>
  <Paragraphs>79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Neue Haas Grotesk Text Pro</vt:lpstr>
      <vt:lpstr>Glacial Indifference Bold</vt:lpstr>
      <vt:lpstr>Arial</vt:lpstr>
      <vt:lpstr>Duna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Plano de Prototipagem - Eng Software 2026</dc:title>
  <dc:creator>Joao Pedro Ortolan Pereira</dc:creator>
  <cp:lastModifiedBy>Joao Pedro Ortolan Pereira</cp:lastModifiedBy>
  <cp:revision>10</cp:revision>
  <dcterms:created xsi:type="dcterms:W3CDTF">2006-08-16T00:00:00Z</dcterms:created>
  <dcterms:modified xsi:type="dcterms:W3CDTF">2026-09-18T00:37:43Z</dcterms:modified>
  <dc:identifier>DAG_EDnx_7c</dc:identifier>
</cp:coreProperties>
</file>